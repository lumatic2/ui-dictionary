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단계별 커밋 — ui-dictionary</c:v>
                </c:pt>
              </c:strCache>
            </c:strRef>
          </c:tx>
          <c:spPr>
            <a:solidFill>
              <a:srgbClr val="2F4B7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15130F"/>
                    </a:solidFill>
                    <a:latin typeface="Pretendard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SP1 재현 랩</c:v>
                  </c:pt>
                  <c:pt idx="1">
                    <c:v>SP2 HTML 트랙</c:v>
                  </c:pt>
                  <c:pt idx="2">
                    <c:v>SP3 PPTX 정본화</c:v>
                  </c:pt>
                  <c:pt idx="3">
                    <c:v>PB bespoke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</c:v>
                </c:pt>
                <c:pt idx="1">
                  <c:v>2</c:v>
                </c:pt>
                <c:pt idx="2">
                  <c:v>4</c:v>
                </c:pt>
                <c:pt idx="3">
                  <c:v>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50" u="none">
                  <a:solidFill>
                    <a:srgbClr val="15130F"/>
                  </a:solidFill>
                  <a:latin typeface="Pretendar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4A463D"/>
                </a:solidFill>
                <a:latin typeface="Pretendard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6350" cap="flat">
              <a:solidFill>
                <a:srgbClr val="E7E1D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영상 워크플로우를 재현하고, 스킬과 PPTX 정본으로 다시 세운 하루의 기록.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C:\Users\yusun\orca\workspaces\ui-dictionary\발표-슬라이드-만드는-법\decks\claude-ppt-lab\codex-image-deck\hero-pipeline.png">    </p:cNvPr>
          <p:cNvPicPr>
            <a:picLocks noChangeAspect="1"/>
          </p:cNvPicPr>
          <p:nvPr/>
        </p:nvPicPr>
        <p:blipFill>
          <a:blip r:embed="rId1">
            <a:alphaModFix amt="94000"/>
          </a:blip>
          <a:stretch>
            <a:fillRect/>
          </a:stretch>
        </p:blipFill>
        <p:spPr>
          <a:xfrm>
            <a:off x="6492240" y="621792"/>
            <a:ext cx="5010912" cy="5614416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5806440" y="621792"/>
            <a:ext cx="822960" cy="5614416"/>
          </a:xfrm>
          <a:prstGeom prst="rect">
            <a:avLst/>
          </a:prstGeom>
          <a:solidFill>
            <a:srgbClr val="F4F3EE">
              <a:alpha val="90000"/>
            </a:srgbClr>
          </a:solidFill>
          <a:ln w="12700">
            <a:solidFill>
              <a:srgbClr val="F4F3EE">
                <a:alpha val="0"/>
              </a:srgbClr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9494215" y="29260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1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Askewly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685800" y="641908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1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685800" y="1993392"/>
            <a:ext cx="566928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500" b="1" spc="-50" kern="0" dirty="0">
                <a:solidFill>
                  <a:srgbClr val="151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영상 하나로</a:t>
            </a:r>
            <a:endParaRPr lang="en-US" sz="3500" dirty="0"/>
          </a:p>
          <a:p>
            <a:pPr indent="0" marL="0">
              <a:buNone/>
            </a:pPr>
            <a:r>
              <a:rPr lang="en-US" sz="3500" b="1" spc="-50" kern="0" dirty="0">
                <a:solidFill>
                  <a:srgbClr val="151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PPT 파이프라인을 다시 세웠습니다</a:t>
            </a:r>
            <a:endParaRPr lang="en-US" sz="3500" dirty="0"/>
          </a:p>
        </p:txBody>
      </p:sp>
      <p:sp>
        <p:nvSpPr>
          <p:cNvPr id="8" name="Text 4"/>
          <p:cNvSpPr/>
          <p:nvPr/>
        </p:nvSpPr>
        <p:spPr>
          <a:xfrm>
            <a:off x="685800" y="352044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Askewly Design 팀 회고 · 2026-07-31 하루 기록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685800" y="4279392"/>
            <a:ext cx="914400" cy="329184"/>
          </a:xfrm>
          <a:prstGeom prst="roundRect">
            <a:avLst>
              <a:gd name="adj" fmla="val 50000"/>
            </a:avLst>
          </a:prstGeom>
          <a:solidFill>
            <a:srgbClr val="FFFFFB"/>
          </a:solidFill>
          <a:ln w="12700">
            <a:solidFill>
              <a:srgbClr val="D8D0C1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85800" y="4279392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4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하루 기록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1783080" y="4279392"/>
            <a:ext cx="914400" cy="329184"/>
          </a:xfrm>
          <a:prstGeom prst="roundRect">
            <a:avLst>
              <a:gd name="adj" fmla="val 50000"/>
            </a:avLst>
          </a:prstGeom>
          <a:solidFill>
            <a:srgbClr val="FFFFFB"/>
          </a:solidFill>
          <a:ln w="12700">
            <a:solidFill>
              <a:srgbClr val="D8D0C1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1783080" y="4279392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4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Askewly Design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9260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4A4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pPr indent="0" marL="0">
              <a:buNone/>
            </a:pPr>
            <a:r>
              <a:rPr lang="en-US" sz="1050" spc="300" kern="0" dirty="0">
                <a:solidFill>
                  <a:srgbClr val="4A4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·  재현에서 흡수까지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9494215" y="29260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1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Askewly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641908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1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095848" y="6419088"/>
            <a:ext cx="54100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1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Source: 2026-07-31 작업 기록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804672"/>
            <a:ext cx="930528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spc="-30" kern="0" dirty="0">
                <a:solidFill>
                  <a:srgbClr val="151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먼저 등가 재현했고, 그다음 스킬에 흡수했습니다.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685800" y="1389888"/>
            <a:ext cx="930528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4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유튜브 ‘클로드 PPT 5단계’ 워크플로우를 그대로 따라가며, 남길 것만 골랐습니다.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2446020"/>
            <a:ext cx="3271418" cy="0"/>
          </a:xfrm>
          <a:prstGeom prst="line">
            <a:avLst/>
          </a:prstGeom>
          <a:noFill/>
          <a:ln w="12700">
            <a:solidFill>
              <a:srgbClr val="D8D0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574036"/>
            <a:ext cx="327141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1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5단계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685800" y="3122676"/>
            <a:ext cx="327141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1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워크플로우 등가 재현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85800" y="3378708"/>
            <a:ext cx="327141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771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영상의 순서를 작업 가능한 제작 루프로 바꿨습니다.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460138" y="2446020"/>
            <a:ext cx="3271418" cy="0"/>
          </a:xfrm>
          <a:prstGeom prst="line">
            <a:avLst/>
          </a:prstGeom>
          <a:noFill/>
          <a:ln w="12700">
            <a:solidFill>
              <a:srgbClr val="D8D0C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60138" y="2574036"/>
            <a:ext cx="327141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4B7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4460138" y="3122676"/>
            <a:ext cx="327141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1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흡수 채택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460138" y="3378708"/>
            <a:ext cx="327141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771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스킬의 기본 제작 규칙으로 반영했습니다.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234477" y="2446020"/>
            <a:ext cx="3271418" cy="0"/>
          </a:xfrm>
          <a:prstGeom prst="line">
            <a:avLst/>
          </a:prstGeom>
          <a:noFill/>
          <a:ln w="12700">
            <a:solidFill>
              <a:srgbClr val="D8D0C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34477" y="2574036"/>
            <a:ext cx="327141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4B7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8234477" y="3122676"/>
            <a:ext cx="327141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1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흡수 보류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234477" y="3378708"/>
            <a:ext cx="327141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771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효과보다 판단이 먼저 필요한 항목입니다.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85800" y="4274820"/>
            <a:ext cx="10820095" cy="0"/>
          </a:xfrm>
          <a:prstGeom prst="line">
            <a:avLst/>
          </a:prstGeom>
          <a:noFill/>
          <a:ln w="12700">
            <a:solidFill>
              <a:srgbClr val="D8D0C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5800" y="4604004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E8F0ED"/>
          </a:solidFill>
          <a:ln w="9525">
            <a:solidFill>
              <a:srgbClr val="AEC5C0"/>
            </a:solidFill>
            <a:prstDash val="solid"/>
          </a:ln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7972" y="4696176"/>
            <a:ext cx="199705" cy="199705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271016" y="4549140"/>
            <a:ext cx="268620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F4B7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흐름 ①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271016" y="4750308"/>
            <a:ext cx="268620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1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재현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1271016" y="5024628"/>
            <a:ext cx="2686202" cy="758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4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영상의 제작 순서와 판단 지점을 등가로 복원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4460138" y="4604004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E8F0ED"/>
          </a:solidFill>
          <a:ln w="9525">
            <a:solidFill>
              <a:srgbClr val="AEC5C0"/>
            </a:solidFill>
            <a:prstDash val="solid"/>
          </a:ln>
        </p:spPr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52310" y="4696176"/>
            <a:ext cx="199705" cy="199705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5045354" y="4549140"/>
            <a:ext cx="268620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F4B7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흐름 ②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5045354" y="4750308"/>
            <a:ext cx="268620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1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판정</a:t>
            </a:r>
            <a:endParaRPr lang="en-US" sz="1350" dirty="0"/>
          </a:p>
        </p:txBody>
      </p:sp>
      <p:sp>
        <p:nvSpPr>
          <p:cNvPr id="30" name="Text 26"/>
          <p:cNvSpPr/>
          <p:nvPr/>
        </p:nvSpPr>
        <p:spPr>
          <a:xfrm>
            <a:off x="5045354" y="5024628"/>
            <a:ext cx="2686202" cy="758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4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스킬 계약에 남길 요소와 보류할 요소를 분리</a:t>
            </a:r>
            <a:endParaRPr lang="en-US" sz="950" dirty="0"/>
          </a:p>
        </p:txBody>
      </p:sp>
      <p:sp>
        <p:nvSpPr>
          <p:cNvPr id="31" name="Shape 27"/>
          <p:cNvSpPr/>
          <p:nvPr/>
        </p:nvSpPr>
        <p:spPr>
          <a:xfrm>
            <a:off x="8234477" y="4604004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E8F0ED"/>
          </a:solidFill>
          <a:ln w="9525">
            <a:solidFill>
              <a:srgbClr val="AEC5C0"/>
            </a:solidFill>
            <a:prstDash val="solid"/>
          </a:ln>
        </p:spPr>
      </p:sp>
      <p:pic>
        <p:nvPicPr>
          <p:cNvPr id="3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26648" y="4696176"/>
            <a:ext cx="199705" cy="199705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8819693" y="4549140"/>
            <a:ext cx="268620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F4B7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흐름 ③</a:t>
            </a:r>
            <a:endParaRPr lang="en-US" sz="900" dirty="0"/>
          </a:p>
        </p:txBody>
      </p:sp>
      <p:sp>
        <p:nvSpPr>
          <p:cNvPr id="34" name="Text 29"/>
          <p:cNvSpPr/>
          <p:nvPr/>
        </p:nvSpPr>
        <p:spPr>
          <a:xfrm>
            <a:off x="8819693" y="4750308"/>
            <a:ext cx="268620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1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정착</a:t>
            </a:r>
            <a:endParaRPr lang="en-US" sz="1350" dirty="0"/>
          </a:p>
        </p:txBody>
      </p:sp>
      <p:sp>
        <p:nvSpPr>
          <p:cNvPr id="35" name="Text 30"/>
          <p:cNvSpPr/>
          <p:nvPr/>
        </p:nvSpPr>
        <p:spPr>
          <a:xfrm>
            <a:off x="8819693" y="5024628"/>
            <a:ext cx="2686202" cy="758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4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HTML과 PPTX의 제작 경로로 함께 고정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9260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4A4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pPr indent="0" marL="0">
              <a:buNone/>
            </a:pPr>
            <a:r>
              <a:rPr lang="en-US" sz="1050" spc="300" kern="0" dirty="0">
                <a:solidFill>
                  <a:srgbClr val="4A4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·  하루의 밀도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9494215" y="29260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1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Askewly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641908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1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095848" y="6419088"/>
            <a:ext cx="54100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1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Source: 2026-07-31 작업 기록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804672"/>
            <a:ext cx="930528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spc="-30" kern="0" dirty="0">
                <a:solidFill>
                  <a:srgbClr val="151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커밋 34개와 goal 3개가 하나의 흐름으로 닫혔습니다.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685800" y="1389888"/>
            <a:ext cx="930528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4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재현 랩에서 시작한 작업이 HTML 트랙, PPTX 정본화, bespoke 제작으로 이어졌습니다.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1938528"/>
            <a:ext cx="6059253" cy="4352544"/>
          </a:xfrm>
          <a:prstGeom prst="roundRect">
            <a:avLst>
              <a:gd name="adj" fmla="val 1681"/>
            </a:avLst>
          </a:prstGeom>
          <a:solidFill>
            <a:srgbClr val="FFFFFB"/>
          </a:solidFill>
          <a:ln w="12700">
            <a:solidFill>
              <a:srgbClr val="D8D0C1"/>
            </a:solidFill>
            <a:prstDash val="solid"/>
          </a:ln>
          <a:effectLst>
            <a:outerShdw sx="100000" sy="100000" kx="0" ky="0" algn="bl" rotWithShape="0" blurRad="152400" dist="25400" dir="5400000">
              <a:srgbClr val="8A8272">
                <a:alpha val="2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60120" y="2121408"/>
            <a:ext cx="5510613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1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단계별 커밋 — ui-dictionary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960120" y="2395728"/>
            <a:ext cx="5510613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771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단위: 커밋 · 2026-07-31</a:t>
            </a:r>
            <a:endParaRPr lang="en-US" sz="95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914400" y="2688336"/>
          <a:ext cx="5602053" cy="316382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Text 9"/>
          <p:cNvSpPr/>
          <p:nvPr/>
        </p:nvSpPr>
        <p:spPr>
          <a:xfrm>
            <a:off x="960120" y="5961888"/>
            <a:ext cx="5510613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771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Source: 오늘의 커밋 기록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7019373" y="1938528"/>
            <a:ext cx="4486522" cy="1316736"/>
          </a:xfrm>
          <a:prstGeom prst="roundRect">
            <a:avLst>
              <a:gd name="adj" fmla="val 5556"/>
            </a:avLst>
          </a:prstGeom>
          <a:solidFill>
            <a:srgbClr val="FFFFFB"/>
          </a:solidFill>
          <a:ln w="12700">
            <a:solidFill>
              <a:srgbClr val="D8D0C1"/>
            </a:solidFill>
            <a:prstDash val="solid"/>
          </a:ln>
          <a:effectLst>
            <a:outerShdw sx="100000" sy="100000" kx="0" ky="0" algn="bl" rotWithShape="0" blurRad="152400" dist="25400" dir="5400000">
              <a:srgbClr val="8A8272">
                <a:alpha val="2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7275405" y="2103120"/>
            <a:ext cx="39744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F4B7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34</a:t>
            </a:r>
            <a:endParaRPr lang="en-US" sz="2700" dirty="0"/>
          </a:p>
        </p:txBody>
      </p:sp>
      <p:sp>
        <p:nvSpPr>
          <p:cNvPr id="15" name="Text 12"/>
          <p:cNvSpPr/>
          <p:nvPr/>
        </p:nvSpPr>
        <p:spPr>
          <a:xfrm>
            <a:off x="7275405" y="2596896"/>
            <a:ext cx="397445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1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커밋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7275405" y="2852928"/>
            <a:ext cx="397445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771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ui-dictionary 18 + custom-skills 16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7019373" y="3456432"/>
            <a:ext cx="4486522" cy="1316736"/>
          </a:xfrm>
          <a:prstGeom prst="roundRect">
            <a:avLst>
              <a:gd name="adj" fmla="val 5556"/>
            </a:avLst>
          </a:prstGeom>
          <a:solidFill>
            <a:srgbClr val="FFFFFB"/>
          </a:solidFill>
          <a:ln w="12700">
            <a:solidFill>
              <a:srgbClr val="D8D0C1"/>
            </a:solidFill>
            <a:prstDash val="solid"/>
          </a:ln>
          <a:effectLst>
            <a:outerShdw sx="100000" sy="100000" kx="0" ky="0" algn="bl" rotWithShape="0" blurRad="152400" dist="25400" dir="5400000">
              <a:srgbClr val="8A8272">
                <a:alpha val="2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7275405" y="3621024"/>
            <a:ext cx="39744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F4B7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2700" dirty="0"/>
          </a:p>
        </p:txBody>
      </p:sp>
      <p:sp>
        <p:nvSpPr>
          <p:cNvPr id="19" name="Text 16"/>
          <p:cNvSpPr/>
          <p:nvPr/>
        </p:nvSpPr>
        <p:spPr>
          <a:xfrm>
            <a:off x="7275405" y="4114800"/>
            <a:ext cx="397445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1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완주 goal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7275405" y="4370832"/>
            <a:ext cx="397445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771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재현과 정본화가 끊기지 않고 연결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7019373" y="4974336"/>
            <a:ext cx="4486522" cy="1316736"/>
          </a:xfrm>
          <a:prstGeom prst="roundRect">
            <a:avLst>
              <a:gd name="adj" fmla="val 5556"/>
            </a:avLst>
          </a:prstGeom>
          <a:solidFill>
            <a:srgbClr val="FFFFFB"/>
          </a:solidFill>
          <a:ln w="12700">
            <a:solidFill>
              <a:srgbClr val="D8D0C1"/>
            </a:solidFill>
            <a:prstDash val="solid"/>
          </a:ln>
          <a:effectLst>
            <a:outerShdw sx="100000" sy="100000" kx="0" ky="0" algn="bl" rotWithShape="0" blurRad="152400" dist="25400" dir="5400000">
              <a:srgbClr val="8A8272">
                <a:alpha val="22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7275405" y="5138928"/>
            <a:ext cx="39744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F4B7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2700" dirty="0"/>
          </a:p>
        </p:txBody>
      </p:sp>
      <p:sp>
        <p:nvSpPr>
          <p:cNvPr id="23" name="Text 20"/>
          <p:cNvSpPr/>
          <p:nvPr/>
        </p:nvSpPr>
        <p:spPr>
          <a:xfrm>
            <a:off x="7275405" y="5632704"/>
            <a:ext cx="397445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1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산출 PPTX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7275405" y="5888736"/>
            <a:ext cx="397445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771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검증 가능한 결과물로 남겼습니다.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9260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4A4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pPr indent="0" marL="0">
              <a:buNone/>
            </a:pPr>
            <a:r>
              <a:rPr lang="en-US" sz="1050" spc="300" kern="0" dirty="0">
                <a:solidFill>
                  <a:srgbClr val="4A4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·  캘리브레이션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9494215" y="29260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1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Askewly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641908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1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095848" y="6419088"/>
            <a:ext cx="54100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1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Source: 2026-07-31 작업 기록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804672"/>
            <a:ext cx="930528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spc="-30" kern="0" dirty="0">
                <a:solidFill>
                  <a:srgbClr val="151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좋은 PPT는 한 번의 생성으로 끝나지 않습니다.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685800" y="1389888"/>
            <a:ext cx="930528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4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HTML과 bespoke를 왕복하며 만든 캘리브레이션 루프가 결과물의 밀도를 바꿨습니다.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2061972"/>
            <a:ext cx="4998568" cy="0"/>
          </a:xfrm>
          <a:prstGeom prst="line">
            <a:avLst/>
          </a:prstGeom>
          <a:noFill/>
          <a:ln w="12700">
            <a:solidFill>
              <a:srgbClr val="D8D0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189988"/>
            <a:ext cx="499856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4B7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685800" y="2738628"/>
            <a:ext cx="49985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1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캘리브레이션 라운드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85800" y="2994660"/>
            <a:ext cx="499856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771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HTML 3 + bespoke v1 3 + v2 4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85800" y="3497580"/>
            <a:ext cx="4998568" cy="0"/>
          </a:xfrm>
          <a:prstGeom prst="line">
            <a:avLst/>
          </a:prstGeom>
          <a:noFill/>
          <a:ln w="12700">
            <a:solidFill>
              <a:srgbClr val="D8D0C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625596"/>
            <a:ext cx="499856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4B7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85800" y="4174236"/>
            <a:ext cx="49985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1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PPTX 산출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85800" y="4430268"/>
            <a:ext cx="499856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771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각 결과를 열고, 보고, 다시 조정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85800" y="4933188"/>
            <a:ext cx="4998568" cy="0"/>
          </a:xfrm>
          <a:prstGeom prst="line">
            <a:avLst/>
          </a:prstGeom>
          <a:noFill/>
          <a:ln w="12700">
            <a:solidFill>
              <a:srgbClr val="D8D0C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5061204"/>
            <a:ext cx="499856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1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대표 장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85800" y="5609844"/>
            <a:ext cx="49985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1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먼저 수렴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85800" y="5865876"/>
            <a:ext cx="499856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771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먼저 맞춘 뒤 전체 구성에 전개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095848" y="2075688"/>
            <a:ext cx="0" cy="4078224"/>
          </a:xfrm>
          <a:prstGeom prst="line">
            <a:avLst/>
          </a:prstGeom>
          <a:noFill/>
          <a:ln w="12700">
            <a:solidFill>
              <a:srgbClr val="D8D0C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07328" y="2455164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E8F0ED"/>
          </a:solidFill>
          <a:ln w="9525">
            <a:solidFill>
              <a:srgbClr val="AEC5C0"/>
            </a:solidFill>
            <a:prstDash val="solid"/>
          </a:ln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599499" y="2547336"/>
            <a:ext cx="199705" cy="199705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7092544" y="2400300"/>
            <a:ext cx="44133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F4B7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루프 ①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7092544" y="2601468"/>
            <a:ext cx="44133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1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이미지로 검사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7092544" y="2875788"/>
            <a:ext cx="4413352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4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PPTX를 PNG로 바꿔 실제 시각 결과를 확인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6507328" y="3689604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E8F0ED"/>
          </a:solidFill>
          <a:ln w="9525">
            <a:solidFill>
              <a:srgbClr val="AEC5C0"/>
            </a:solidFill>
            <a:prstDash val="solid"/>
          </a:ln>
        </p:spPr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99499" y="3781776"/>
            <a:ext cx="199705" cy="199705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7092544" y="3634740"/>
            <a:ext cx="44133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F4B7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루프 ②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7092544" y="3835908"/>
            <a:ext cx="44133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1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항목씩 교정</a:t>
            </a:r>
            <a:endParaRPr lang="en-US" sz="1350" dirty="0"/>
          </a:p>
        </p:txBody>
      </p:sp>
      <p:sp>
        <p:nvSpPr>
          <p:cNvPr id="30" name="Text 26"/>
          <p:cNvSpPr/>
          <p:nvPr/>
        </p:nvSpPr>
        <p:spPr>
          <a:xfrm>
            <a:off x="7092544" y="4110228"/>
            <a:ext cx="4413352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4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구도, 간격, 위계, 색의 편차를 코드에 반영</a:t>
            </a:r>
            <a:endParaRPr lang="en-US" sz="950" dirty="0"/>
          </a:p>
        </p:txBody>
      </p:sp>
      <p:sp>
        <p:nvSpPr>
          <p:cNvPr id="31" name="Shape 27"/>
          <p:cNvSpPr/>
          <p:nvPr/>
        </p:nvSpPr>
        <p:spPr>
          <a:xfrm>
            <a:off x="6507328" y="4924044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E8F0ED"/>
          </a:solidFill>
          <a:ln w="9525">
            <a:solidFill>
              <a:srgbClr val="AEC5C0"/>
            </a:solidFill>
            <a:prstDash val="solid"/>
          </a:ln>
        </p:spPr>
      </p:sp>
      <p:pic>
        <p:nvPicPr>
          <p:cNvPr id="3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99499" y="5016216"/>
            <a:ext cx="199705" cy="199705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7092544" y="4869180"/>
            <a:ext cx="44133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F4B7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루프 ③</a:t>
            </a:r>
            <a:endParaRPr lang="en-US" sz="900" dirty="0"/>
          </a:p>
        </p:txBody>
      </p:sp>
      <p:sp>
        <p:nvSpPr>
          <p:cNvPr id="34" name="Text 29"/>
          <p:cNvSpPr/>
          <p:nvPr/>
        </p:nvSpPr>
        <p:spPr>
          <a:xfrm>
            <a:off x="7092544" y="5070348"/>
            <a:ext cx="44133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1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전체로 확장</a:t>
            </a:r>
            <a:endParaRPr lang="en-US" sz="1350" dirty="0"/>
          </a:p>
        </p:txBody>
      </p:sp>
      <p:sp>
        <p:nvSpPr>
          <p:cNvPr id="35" name="Text 30"/>
          <p:cNvSpPr/>
          <p:nvPr/>
        </p:nvSpPr>
        <p:spPr>
          <a:xfrm>
            <a:off x="7092544" y="5344668"/>
            <a:ext cx="4413352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4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수렴한 편집 문법을 덱 전장에 적용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9260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4A4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pPr indent="0" marL="0">
              <a:buNone/>
            </a:pPr>
            <a:r>
              <a:rPr lang="en-US" sz="1050" spc="300" kern="0" dirty="0">
                <a:solidFill>
                  <a:srgbClr val="4A4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·  오늘의 교훈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9494215" y="29260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1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Askewly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641908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1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095848" y="6419088"/>
            <a:ext cx="54100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1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Source: 2026-07-31 작업 기록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804672"/>
            <a:ext cx="930528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spc="-30" kern="0" dirty="0">
                <a:solidFill>
                  <a:srgbClr val="151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HTML 미러링은 실패했습니다. 품질은 편집 그래머에서 나옵니다.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685800" y="1389888"/>
            <a:ext cx="930528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4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주장형 헤드라인, 정보 3계층, 단일 키컬러. 이 세 가지가 화면을 발표물로 바꿨습니다.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2061972"/>
            <a:ext cx="4998568" cy="0"/>
          </a:xfrm>
          <a:prstGeom prst="line">
            <a:avLst/>
          </a:prstGeom>
          <a:noFill/>
          <a:ln w="12700">
            <a:solidFill>
              <a:srgbClr val="D8D0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189988"/>
            <a:ext cx="499856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1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실패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685800" y="2738628"/>
            <a:ext cx="49985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1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HTML 미러링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85800" y="2994660"/>
            <a:ext cx="499856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771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여백을 그대로 옮겨도 PPT의 밀도는 생기지 않았습니다.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85800" y="3497580"/>
            <a:ext cx="4998568" cy="0"/>
          </a:xfrm>
          <a:prstGeom prst="line">
            <a:avLst/>
          </a:prstGeom>
          <a:noFill/>
          <a:ln w="12700">
            <a:solidFill>
              <a:srgbClr val="D8D0C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625596"/>
            <a:ext cx="499856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1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3계층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85800" y="4174236"/>
            <a:ext cx="49985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1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정보 구조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85800" y="4430268"/>
            <a:ext cx="499856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771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주장 → 빅넘버 → 상세의 읽는 순서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85800" y="4933188"/>
            <a:ext cx="4998568" cy="0"/>
          </a:xfrm>
          <a:prstGeom prst="line">
            <a:avLst/>
          </a:prstGeom>
          <a:noFill/>
          <a:ln w="12700">
            <a:solidFill>
              <a:srgbClr val="D8D0C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5061204"/>
            <a:ext cx="499856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4B7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네이비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85800" y="5609844"/>
            <a:ext cx="49985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1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단일 키컬러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85800" y="5865876"/>
            <a:ext cx="499856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771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정량을 묶고 시선을 한 곳으로 모읍니다.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095848" y="2075688"/>
            <a:ext cx="0" cy="4078224"/>
          </a:xfrm>
          <a:prstGeom prst="line">
            <a:avLst/>
          </a:prstGeom>
          <a:noFill/>
          <a:ln w="12700">
            <a:solidFill>
              <a:srgbClr val="D8D0C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07328" y="2455164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E8F0ED"/>
          </a:solidFill>
          <a:ln w="9525">
            <a:solidFill>
              <a:srgbClr val="AEC5C0"/>
            </a:solidFill>
            <a:prstDash val="solid"/>
          </a:ln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599499" y="2547336"/>
            <a:ext cx="199705" cy="199705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7092544" y="2400300"/>
            <a:ext cx="44133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F4B7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그래머 ①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7092544" y="2601468"/>
            <a:ext cx="44133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1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주장형 헤드라인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7092544" y="2875788"/>
            <a:ext cx="4413352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4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슬라이드의 결론을 먼저 말합니다.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6507328" y="3689604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E8F0ED"/>
          </a:solidFill>
          <a:ln w="9525">
            <a:solidFill>
              <a:srgbClr val="AEC5C0"/>
            </a:solidFill>
            <a:prstDash val="solid"/>
          </a:ln>
        </p:spPr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99499" y="3781776"/>
            <a:ext cx="199705" cy="199705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7092544" y="3634740"/>
            <a:ext cx="44133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F4B7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그래머 ②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7092544" y="3835908"/>
            <a:ext cx="44133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1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빅넘버와 근거</a:t>
            </a:r>
            <a:endParaRPr lang="en-US" sz="1350" dirty="0"/>
          </a:p>
        </p:txBody>
      </p:sp>
      <p:sp>
        <p:nvSpPr>
          <p:cNvPr id="30" name="Text 26"/>
          <p:cNvSpPr/>
          <p:nvPr/>
        </p:nvSpPr>
        <p:spPr>
          <a:xfrm>
            <a:off x="7092544" y="4110228"/>
            <a:ext cx="4413352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4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숫자는 크고, 상세는 짧고 또렷하게.</a:t>
            </a:r>
            <a:endParaRPr lang="en-US" sz="950" dirty="0"/>
          </a:p>
        </p:txBody>
      </p:sp>
      <p:sp>
        <p:nvSpPr>
          <p:cNvPr id="31" name="Shape 27"/>
          <p:cNvSpPr/>
          <p:nvPr/>
        </p:nvSpPr>
        <p:spPr>
          <a:xfrm>
            <a:off x="6507328" y="4924044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E8F0ED"/>
          </a:solidFill>
          <a:ln w="9525">
            <a:solidFill>
              <a:srgbClr val="AEC5C0"/>
            </a:solidFill>
            <a:prstDash val="solid"/>
          </a:ln>
        </p:spPr>
      </p:sp>
      <p:pic>
        <p:nvPicPr>
          <p:cNvPr id="3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99499" y="5016216"/>
            <a:ext cx="199705" cy="199705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7092544" y="4869180"/>
            <a:ext cx="44133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F4B7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그래머 ③</a:t>
            </a:r>
            <a:endParaRPr lang="en-US" sz="900" dirty="0"/>
          </a:p>
        </p:txBody>
      </p:sp>
      <p:sp>
        <p:nvSpPr>
          <p:cNvPr id="34" name="Text 29"/>
          <p:cNvSpPr/>
          <p:nvPr/>
        </p:nvSpPr>
        <p:spPr>
          <a:xfrm>
            <a:off x="7092544" y="5070348"/>
            <a:ext cx="44133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1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색의 규율</a:t>
            </a:r>
            <a:endParaRPr lang="en-US" sz="1350" dirty="0"/>
          </a:p>
        </p:txBody>
      </p:sp>
      <p:sp>
        <p:nvSpPr>
          <p:cNvPr id="35" name="Text 30"/>
          <p:cNvSpPr/>
          <p:nvPr/>
        </p:nvSpPr>
        <p:spPr>
          <a:xfrm>
            <a:off x="7092544" y="5344668"/>
            <a:ext cx="4413352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4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네이비 한 색으로 정량의 위계를 만듭니다.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영상 하나로 PPT 파이프라인을 다시 세웠습니다</dc:title>
  <dc:subject>PptxGenJS Presentation</dc:subject>
  <dc:creator>PptxGenJS</dc:creator>
  <cp:lastModifiedBy>PptxGenJS</cp:lastModifiedBy>
  <cp:revision>1</cp:revision>
  <dcterms:created xsi:type="dcterms:W3CDTF">2026-07-31T07:37:06Z</dcterms:created>
  <dcterms:modified xsi:type="dcterms:W3CDTF">2026-07-31T07:37:06Z</dcterms:modified>
</cp:coreProperties>
</file>