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오늘 커밋 수 — 단계별 (ui-dictionary)</c:v>
                </c:pt>
              </c:strCache>
            </c:strRef>
          </c:tx>
          <c:spPr>
            <a:solidFill>
              <a:srgbClr val="2F4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15130F"/>
                    </a:solidFill>
                    <a:latin typeface="Pretendar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SP1 재현 랩</c:v>
                  </c:pt>
                  <c:pt idx="1">
                    <c:v>SP2 HTML 트랙</c:v>
                  </c:pt>
                  <c:pt idx="2">
                    <c:v>SP3 PPTX 정본화</c:v>
                  </c:pt>
                  <c:pt idx="3">
                    <c:v>PB bespoke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</c:v>
                </c:pt>
                <c:pt idx="1">
                  <c:v>2</c:v>
                </c:pt>
                <c:pt idx="2">
                  <c:v>4</c:v>
                </c:pt>
                <c:pt idx="3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50" u="none">
                  <a:solidFill>
                    <a:srgbClr val="15130F"/>
                  </a:solidFill>
                  <a:latin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4A463D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majorGridlines>
          <c:spPr>
            <a:ln w="6350" cap="flat">
              <a:solidFill>
                <a:srgbClr val="E7E1D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덱 자체가 오늘 만든 bespoke 트랙의 ⑤ 등가 실증 산출물이다.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충실도 장부 방식 — 편차는 전부 기록하고 등가 치환만 허용했다.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숫자는 전부 오늘 git과 evidence 장부에서 직접 센 값.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관측 FAIL 왕복 자체가 파이프라인의 게이트가 일하고 있다는 증거.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덱이 곧 ⑤ 등가 실증 — 주제 한 줄에서 구성안 자유 생성으로 만들어졌다.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image" Target="../media/image-2-3.png"/><Relationship Id="rId4" Type="http://schemas.openxmlformats.org/officeDocument/2006/relationships/image" Target="../media/image-2-4.svg"/><Relationship Id="rId5" Type="http://schemas.openxmlformats.org/officeDocument/2006/relationships/image" Target="../media/image-2-5.png"/><Relationship Id="rId6" Type="http://schemas.openxmlformats.org/officeDocument/2006/relationships/image" Target="../media/image-2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image" Target="../media/image-5-4.svg"/><Relationship Id="rId5" Type="http://schemas.openxmlformats.org/officeDocument/2006/relationships/image" Target="../media/image-5-5.png"/><Relationship Id="rId6" Type="http://schemas.openxmlformats.org/officeDocument/2006/relationships/image" Target="../media/image-5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9494215" y="29260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Askewly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85800" y="64190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771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685800" y="2514600"/>
            <a:ext cx="10820095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spc="-50" kern="0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 하나로 파이프라인을 다시 세웠습니다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685800" y="3611880"/>
            <a:ext cx="108200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4A46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클로드 PPT 5단계의 재현·흡수·정본화 — 2026-07-31 하루 기록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090008" y="4261104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FFFFFB"/>
          </a:solidFill>
          <a:ln w="12700">
            <a:solidFill>
              <a:srgbClr val="D8D0C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090008" y="426110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A46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회고 덱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187288" y="4261104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FFFFFB"/>
          </a:solidFill>
          <a:ln w="12700">
            <a:solidFill>
              <a:srgbClr val="D8D0C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187288" y="426110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A46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2026-07-31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85800" y="29260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4A46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pPr indent="0" marL="0">
              <a:buNone/>
            </a:pPr>
            <a:r>
              <a:rPr lang="en-US" sz="1050" spc="300" kern="0" dirty="0">
                <a:solidFill>
                  <a:srgbClr val="4A46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·  방법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9494215" y="29260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Askewly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685800" y="64190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771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6095848" y="6419088"/>
            <a:ext cx="5410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771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Source: evidence/slide-pipeline/ 장부, 2026-07-31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85800" y="804672"/>
            <a:ext cx="930528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spc="-30" kern="0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재현이 먼저, 흡수는 그다음입니다.</a:t>
            </a:r>
            <a:endParaRPr lang="en-US" sz="2700" dirty="0"/>
          </a:p>
        </p:txBody>
      </p:sp>
      <p:sp>
        <p:nvSpPr>
          <p:cNvPr id="8" name="Text 5"/>
          <p:cNvSpPr/>
          <p:nvPr/>
        </p:nvSpPr>
        <p:spPr>
          <a:xfrm>
            <a:off x="685800" y="1389888"/>
            <a:ext cx="930528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46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유튜브 5단계를 등가 재현해 충실도 장부로 검증한 뒤에만 스킬에 흡수했다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85800" y="2446020"/>
            <a:ext cx="3271418" cy="0"/>
          </a:xfrm>
          <a:prstGeom prst="line">
            <a:avLst/>
          </a:prstGeom>
          <a:noFill/>
          <a:ln w="12700">
            <a:solidFill>
              <a:srgbClr val="D8D0C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85800" y="2574036"/>
            <a:ext cx="327141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5단계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685800" y="3122676"/>
            <a:ext cx="327141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 워크플로우 재현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685800" y="3378708"/>
            <a:ext cx="327141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7771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스타일 선정→커스터마이즈→1장 조정→박제→제작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460138" y="2446020"/>
            <a:ext cx="3271418" cy="0"/>
          </a:xfrm>
          <a:prstGeom prst="line">
            <a:avLst/>
          </a:prstGeom>
          <a:noFill/>
          <a:ln w="12700">
            <a:solidFill>
              <a:srgbClr val="D8D0C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460138" y="2574036"/>
            <a:ext cx="327141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4B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3000" dirty="0"/>
          </a:p>
        </p:txBody>
      </p:sp>
      <p:sp>
        <p:nvSpPr>
          <p:cNvPr id="15" name="Text 12"/>
          <p:cNvSpPr/>
          <p:nvPr/>
        </p:nvSpPr>
        <p:spPr>
          <a:xfrm>
            <a:off x="4460138" y="3122676"/>
            <a:ext cx="327141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흡수 채택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4460138" y="3378708"/>
            <a:ext cx="327141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7771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custom 테마·1장 캘리브레이션·리디자인 입력 (보류 1)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8234477" y="2446020"/>
            <a:ext cx="3271418" cy="0"/>
          </a:xfrm>
          <a:prstGeom prst="line">
            <a:avLst/>
          </a:prstGeom>
          <a:noFill/>
          <a:ln w="12700">
            <a:solidFill>
              <a:srgbClr val="D8D0C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34477" y="2574036"/>
            <a:ext cx="327141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4B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3000" dirty="0"/>
          </a:p>
        </p:txBody>
      </p:sp>
      <p:sp>
        <p:nvSpPr>
          <p:cNvPr id="19" name="Text 16"/>
          <p:cNvSpPr/>
          <p:nvPr/>
        </p:nvSpPr>
        <p:spPr>
          <a:xfrm>
            <a:off x="8234477" y="3122676"/>
            <a:ext cx="327141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기준 이미지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8234477" y="3378708"/>
            <a:ext cx="327141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7771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brandlogy 캡처 — 편집 그래머의 정본 근거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85800" y="4274820"/>
            <a:ext cx="10820095" cy="0"/>
          </a:xfrm>
          <a:prstGeom prst="line">
            <a:avLst/>
          </a:prstGeom>
          <a:noFill/>
          <a:ln w="12700">
            <a:solidFill>
              <a:srgbClr val="D8D0C1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85800" y="4604004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E8F0ED"/>
          </a:solidFill>
          <a:ln w="9525">
            <a:solidFill>
              <a:srgbClr val="AEC5C0"/>
            </a:solidFill>
            <a:prstDash val="solid"/>
          </a:ln>
        </p:spPr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77972" y="4696176"/>
            <a:ext cx="199705" cy="199705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1271016" y="4549140"/>
            <a:ext cx="268620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F4B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goal ①</a:t>
            </a:r>
            <a:endParaRPr lang="en-US" sz="900" dirty="0"/>
          </a:p>
        </p:txBody>
      </p:sp>
      <p:sp>
        <p:nvSpPr>
          <p:cNvPr id="25" name="Text 21"/>
          <p:cNvSpPr/>
          <p:nvPr/>
        </p:nvSpPr>
        <p:spPr>
          <a:xfrm>
            <a:off x="1271016" y="4750308"/>
            <a:ext cx="268620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재현 랩</a:t>
            </a:r>
            <a:endParaRPr lang="en-US" sz="1350" dirty="0"/>
          </a:p>
        </p:txBody>
      </p:sp>
      <p:sp>
        <p:nvSpPr>
          <p:cNvPr id="26" name="Text 22"/>
          <p:cNvSpPr/>
          <p:nvPr/>
        </p:nvSpPr>
        <p:spPr>
          <a:xfrm>
            <a:off x="1271016" y="5024628"/>
            <a:ext cx="2686202" cy="758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46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MiniMax 프리셋·1장 왕복 3회·네이티브 차트 검증</a:t>
            </a:r>
            <a:endParaRPr lang="en-US" sz="950" dirty="0"/>
          </a:p>
        </p:txBody>
      </p:sp>
      <p:sp>
        <p:nvSpPr>
          <p:cNvPr id="27" name="Shape 23"/>
          <p:cNvSpPr/>
          <p:nvPr/>
        </p:nvSpPr>
        <p:spPr>
          <a:xfrm>
            <a:off x="4460138" y="4604004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E8F0ED"/>
          </a:solidFill>
          <a:ln w="9525">
            <a:solidFill>
              <a:srgbClr val="AEC5C0"/>
            </a:solidFill>
            <a:prstDash val="solid"/>
          </a:ln>
        </p:spPr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52310" y="4696176"/>
            <a:ext cx="199705" cy="199705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5045354" y="4549140"/>
            <a:ext cx="268620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F4B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goal ②</a:t>
            </a:r>
            <a:endParaRPr lang="en-US" sz="900" dirty="0"/>
          </a:p>
        </p:txBody>
      </p:sp>
      <p:sp>
        <p:nvSpPr>
          <p:cNvPr id="30" name="Text 25"/>
          <p:cNvSpPr/>
          <p:nvPr/>
        </p:nvSpPr>
        <p:spPr>
          <a:xfrm>
            <a:off x="5045354" y="4750308"/>
            <a:ext cx="268620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스킬 업그레이드</a:t>
            </a:r>
            <a:endParaRPr lang="en-US" sz="1350" dirty="0"/>
          </a:p>
        </p:txBody>
      </p:sp>
      <p:sp>
        <p:nvSpPr>
          <p:cNvPr id="31" name="Text 26"/>
          <p:cNvSpPr/>
          <p:nvPr/>
        </p:nvSpPr>
        <p:spPr>
          <a:xfrm>
            <a:off x="5045354" y="5024628"/>
            <a:ext cx="2686202" cy="758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46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custom 테마 트랙·G5 캘리브레이션·리디자인 입력</a:t>
            </a:r>
            <a:endParaRPr lang="en-US" sz="950" dirty="0"/>
          </a:p>
        </p:txBody>
      </p:sp>
      <p:sp>
        <p:nvSpPr>
          <p:cNvPr id="32" name="Shape 27"/>
          <p:cNvSpPr/>
          <p:nvPr/>
        </p:nvSpPr>
        <p:spPr>
          <a:xfrm>
            <a:off x="8234477" y="4604004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E8F0ED"/>
          </a:solidFill>
          <a:ln w="9525">
            <a:solidFill>
              <a:srgbClr val="AEC5C0"/>
            </a:solidFill>
            <a:prstDash val="solid"/>
          </a:ln>
        </p:spPr>
      </p:sp>
      <p:pic>
        <p:nvPicPr>
          <p:cNvPr id="3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326648" y="4696176"/>
            <a:ext cx="199705" cy="199705"/>
          </a:xfrm>
          <a:prstGeom prst="rect">
            <a:avLst/>
          </a:prstGeom>
        </p:spPr>
      </p:pic>
      <p:sp>
        <p:nvSpPr>
          <p:cNvPr id="34" name="Text 28"/>
          <p:cNvSpPr/>
          <p:nvPr/>
        </p:nvSpPr>
        <p:spPr>
          <a:xfrm>
            <a:off x="8819693" y="4549140"/>
            <a:ext cx="268620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F4B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goal ③</a:t>
            </a:r>
            <a:endParaRPr lang="en-US" sz="900" dirty="0"/>
          </a:p>
        </p:txBody>
      </p:sp>
      <p:sp>
        <p:nvSpPr>
          <p:cNvPr id="35" name="Text 29"/>
          <p:cNvSpPr/>
          <p:nvPr/>
        </p:nvSpPr>
        <p:spPr>
          <a:xfrm>
            <a:off x="8819693" y="4750308"/>
            <a:ext cx="268620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PPTX 정본화</a:t>
            </a:r>
            <a:endParaRPr lang="en-US" sz="1350" dirty="0"/>
          </a:p>
        </p:txBody>
      </p:sp>
      <p:sp>
        <p:nvSpPr>
          <p:cNvPr id="36" name="Text 30"/>
          <p:cNvSpPr/>
          <p:nvPr/>
        </p:nvSpPr>
        <p:spPr>
          <a:xfrm>
            <a:off x="8819693" y="5024628"/>
            <a:ext cx="2686202" cy="758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46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pptxgenjs 단일 경로 + bespoke 고품질 트랙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85800" y="29260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4A46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indent="0" marL="0">
              <a:buNone/>
            </a:pPr>
            <a:r>
              <a:rPr lang="en-US" sz="1050" spc="300" kern="0" dirty="0">
                <a:solidFill>
                  <a:srgbClr val="4A46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·  실측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9494215" y="29260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Askewly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685800" y="64190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771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6095848" y="6419088"/>
            <a:ext cx="5410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771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Source: git log·evidence 장부 실측, 2026-07-31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85800" y="804672"/>
            <a:ext cx="930528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spc="-30" kern="0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하루에 커밋 34개, goal 세 개가 닫혔습니다.</a:t>
            </a:r>
            <a:endParaRPr lang="en-US" sz="2700" dirty="0"/>
          </a:p>
        </p:txBody>
      </p:sp>
      <p:sp>
        <p:nvSpPr>
          <p:cNvPr id="8" name="Text 5"/>
          <p:cNvSpPr/>
          <p:nvPr/>
        </p:nvSpPr>
        <p:spPr>
          <a:xfrm>
            <a:off x="685800" y="1389888"/>
            <a:ext cx="930528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46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ui-dictionary 18 · custom-skills 16 — 전부 재현 랩에서 출발한 연쇄다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85800" y="1938528"/>
            <a:ext cx="6059253" cy="4352544"/>
          </a:xfrm>
          <a:prstGeom prst="roundRect">
            <a:avLst>
              <a:gd name="adj" fmla="val 1681"/>
            </a:avLst>
          </a:prstGeom>
          <a:solidFill>
            <a:srgbClr val="FFFFFB"/>
          </a:solidFill>
          <a:ln w="12700">
            <a:solidFill>
              <a:srgbClr val="D8D0C1"/>
            </a:solidFill>
            <a:prstDash val="solid"/>
          </a:ln>
          <a:effectLst>
            <a:outerShdw sx="100000" sy="100000" kx="0" ky="0" algn="bl" rotWithShape="0" blurRad="152400" dist="25400" dir="5400000">
              <a:srgbClr val="8A8272">
                <a:alpha val="2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960120" y="2121408"/>
            <a:ext cx="5510613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커밋 수 — 단계별 (ui-dictionary)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960120" y="2395728"/>
            <a:ext cx="5510613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771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단위: 커밋 · git log 실측, 2026-07-31</a:t>
            </a:r>
            <a:endParaRPr lang="en-US" sz="95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914400" y="2688336"/>
          <a:ext cx="5602053" cy="316382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/>
          <p:nvPr/>
        </p:nvSpPr>
        <p:spPr>
          <a:xfrm>
            <a:off x="960120" y="5961888"/>
            <a:ext cx="5510613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771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Source: git log --since 2026-07-31 실측</a:t>
            </a:r>
            <a:endParaRPr lang="en-US" sz="850" dirty="0"/>
          </a:p>
        </p:txBody>
      </p:sp>
      <p:sp>
        <p:nvSpPr>
          <p:cNvPr id="14" name="Shape 10"/>
          <p:cNvSpPr/>
          <p:nvPr/>
        </p:nvSpPr>
        <p:spPr>
          <a:xfrm>
            <a:off x="7019373" y="1938528"/>
            <a:ext cx="4486522" cy="1316736"/>
          </a:xfrm>
          <a:prstGeom prst="roundRect">
            <a:avLst>
              <a:gd name="adj" fmla="val 5556"/>
            </a:avLst>
          </a:prstGeom>
          <a:solidFill>
            <a:srgbClr val="FFFFFB"/>
          </a:solidFill>
          <a:ln w="12700">
            <a:solidFill>
              <a:srgbClr val="D8D0C1"/>
            </a:solidFill>
            <a:prstDash val="solid"/>
          </a:ln>
          <a:effectLst>
            <a:outerShdw sx="100000" sy="100000" kx="0" ky="0" algn="bl" rotWithShape="0" blurRad="152400" dist="25400" dir="5400000">
              <a:srgbClr val="8A8272">
                <a:alpha val="22000"/>
              </a:srgbClr>
            </a:outerShdw>
          </a:effectLst>
        </p:spPr>
      </p:sp>
      <p:sp>
        <p:nvSpPr>
          <p:cNvPr id="15" name="Text 11"/>
          <p:cNvSpPr/>
          <p:nvPr/>
        </p:nvSpPr>
        <p:spPr>
          <a:xfrm>
            <a:off x="7275405" y="2103120"/>
            <a:ext cx="397445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F4B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34</a:t>
            </a:r>
            <a:endParaRPr lang="en-US" sz="2700" dirty="0"/>
          </a:p>
        </p:txBody>
      </p:sp>
      <p:sp>
        <p:nvSpPr>
          <p:cNvPr id="16" name="Text 12"/>
          <p:cNvSpPr/>
          <p:nvPr/>
        </p:nvSpPr>
        <p:spPr>
          <a:xfrm>
            <a:off x="7275405" y="2596896"/>
            <a:ext cx="397445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 커밋 (두 레포)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7275405" y="2852928"/>
            <a:ext cx="3974458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7771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ui-dictionary 18 + custom-skills 16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7019373" y="3456432"/>
            <a:ext cx="4486522" cy="1316736"/>
          </a:xfrm>
          <a:prstGeom prst="roundRect">
            <a:avLst>
              <a:gd name="adj" fmla="val 5556"/>
            </a:avLst>
          </a:prstGeom>
          <a:solidFill>
            <a:srgbClr val="FFFFFB"/>
          </a:solidFill>
          <a:ln w="12700">
            <a:solidFill>
              <a:srgbClr val="D8D0C1"/>
            </a:solidFill>
            <a:prstDash val="solid"/>
          </a:ln>
          <a:effectLst>
            <a:outerShdw sx="100000" sy="100000" kx="0" ky="0" algn="bl" rotWithShape="0" blurRad="152400" dist="25400" dir="5400000">
              <a:srgbClr val="8A8272">
                <a:alpha val="22000"/>
              </a:srgbClr>
            </a:outerShdw>
          </a:effectLst>
        </p:spPr>
      </p:sp>
      <p:sp>
        <p:nvSpPr>
          <p:cNvPr id="19" name="Text 15"/>
          <p:cNvSpPr/>
          <p:nvPr/>
        </p:nvSpPr>
        <p:spPr>
          <a:xfrm>
            <a:off x="7275405" y="3621024"/>
            <a:ext cx="397445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F4B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2700" dirty="0"/>
          </a:p>
        </p:txBody>
      </p:sp>
      <p:sp>
        <p:nvSpPr>
          <p:cNvPr id="20" name="Text 16"/>
          <p:cNvSpPr/>
          <p:nvPr/>
        </p:nvSpPr>
        <p:spPr>
          <a:xfrm>
            <a:off x="7275405" y="4114800"/>
            <a:ext cx="397445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산출 PPTX</a:t>
            </a:r>
            <a:endParaRPr lang="en-US" sz="1250" dirty="0"/>
          </a:p>
        </p:txBody>
      </p:sp>
      <p:sp>
        <p:nvSpPr>
          <p:cNvPr id="21" name="Text 17"/>
          <p:cNvSpPr/>
          <p:nvPr/>
        </p:nvSpPr>
        <p:spPr>
          <a:xfrm>
            <a:off x="7275405" y="4370832"/>
            <a:ext cx="3974458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7771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랩 2 · 범용 트랙 2 · bespoke 1</a:t>
            </a:r>
            <a:endParaRPr lang="en-US" sz="950" dirty="0"/>
          </a:p>
        </p:txBody>
      </p:sp>
      <p:sp>
        <p:nvSpPr>
          <p:cNvPr id="22" name="Shape 18"/>
          <p:cNvSpPr/>
          <p:nvPr/>
        </p:nvSpPr>
        <p:spPr>
          <a:xfrm>
            <a:off x="7019373" y="4974336"/>
            <a:ext cx="4486522" cy="1316736"/>
          </a:xfrm>
          <a:prstGeom prst="roundRect">
            <a:avLst>
              <a:gd name="adj" fmla="val 5556"/>
            </a:avLst>
          </a:prstGeom>
          <a:solidFill>
            <a:srgbClr val="FFFFFB"/>
          </a:solidFill>
          <a:ln w="12700">
            <a:solidFill>
              <a:srgbClr val="D8D0C1"/>
            </a:solidFill>
            <a:prstDash val="solid"/>
          </a:ln>
          <a:effectLst>
            <a:outerShdw sx="100000" sy="100000" kx="0" ky="0" algn="bl" rotWithShape="0" blurRad="152400" dist="25400" dir="5400000">
              <a:srgbClr val="8A8272">
                <a:alpha val="22000"/>
              </a:srgbClr>
            </a:outerShdw>
          </a:effectLst>
        </p:spPr>
      </p:sp>
      <p:sp>
        <p:nvSpPr>
          <p:cNvPr id="23" name="Text 19"/>
          <p:cNvSpPr/>
          <p:nvPr/>
        </p:nvSpPr>
        <p:spPr>
          <a:xfrm>
            <a:off x="7275405" y="5138928"/>
            <a:ext cx="397445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F4B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2700" dirty="0"/>
          </a:p>
        </p:txBody>
      </p:sp>
      <p:sp>
        <p:nvSpPr>
          <p:cNvPr id="24" name="Text 20"/>
          <p:cNvSpPr/>
          <p:nvPr/>
        </p:nvSpPr>
        <p:spPr>
          <a:xfrm>
            <a:off x="7275405" y="5632704"/>
            <a:ext cx="397445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캘리브레이션 라운드</a:t>
            </a:r>
            <a:endParaRPr lang="en-US" sz="1250" dirty="0"/>
          </a:p>
        </p:txBody>
      </p:sp>
      <p:sp>
        <p:nvSpPr>
          <p:cNvPr id="25" name="Text 21"/>
          <p:cNvSpPr/>
          <p:nvPr/>
        </p:nvSpPr>
        <p:spPr>
          <a:xfrm>
            <a:off x="7275405" y="5888736"/>
            <a:ext cx="3974458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7771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HTML 3 + bespoke v1 3 + v2 4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85800" y="29260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4A46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pPr indent="0" marL="0">
              <a:buNone/>
            </a:pPr>
            <a:r>
              <a:rPr lang="en-US" sz="1050" spc="300" kern="0" dirty="0">
                <a:solidFill>
                  <a:srgbClr val="4A46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·  교훈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9494215" y="29260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Askewly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685800" y="64190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771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6095848" y="6419088"/>
            <a:ext cx="5410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771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Source: evidence/slide-pipeline/pb2-bespoke-proof.md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85800" y="804672"/>
            <a:ext cx="930528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spc="-30" kern="0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품질은 렌더가 아니라 그래머에서 나옵니다.</a:t>
            </a:r>
            <a:endParaRPr lang="en-US" sz="2700" dirty="0"/>
          </a:p>
        </p:txBody>
      </p:sp>
      <p:sp>
        <p:nvSpPr>
          <p:cNvPr id="8" name="Text 5"/>
          <p:cNvSpPr/>
          <p:nvPr/>
        </p:nvSpPr>
        <p:spPr>
          <a:xfrm>
            <a:off x="685800" y="1389888"/>
            <a:ext cx="930528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46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HTML 미러링은 관측 FAIL — 주장형 헤드라인·정보 3계층·단일 키컬러가 답이었다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85800" y="2061972"/>
            <a:ext cx="4998568" cy="0"/>
          </a:xfrm>
          <a:prstGeom prst="line">
            <a:avLst/>
          </a:prstGeom>
          <a:noFill/>
          <a:ln w="12700">
            <a:solidFill>
              <a:srgbClr val="D8D0C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85800" y="2189988"/>
            <a:ext cx="499856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FAIL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685800" y="2738628"/>
            <a:ext cx="49985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1차 관측 — HTML 미러링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685800" y="2994660"/>
            <a:ext cx="499856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7771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여백 위주 덱을 충실 재현할수록 성긴 PPT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685800" y="3497580"/>
            <a:ext cx="4998568" cy="0"/>
          </a:xfrm>
          <a:prstGeom prst="line">
            <a:avLst/>
          </a:prstGeom>
          <a:noFill/>
          <a:ln w="12700">
            <a:solidFill>
              <a:srgbClr val="D8D0C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85800" y="3625596"/>
            <a:ext cx="499856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4B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3000" dirty="0"/>
          </a:p>
        </p:txBody>
      </p:sp>
      <p:sp>
        <p:nvSpPr>
          <p:cNvPr id="15" name="Text 12"/>
          <p:cNvSpPr/>
          <p:nvPr/>
        </p:nvSpPr>
        <p:spPr>
          <a:xfrm>
            <a:off x="685800" y="4174236"/>
            <a:ext cx="49985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프레임 고정 앵커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685800" y="4430268"/>
            <a:ext cx="499856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7771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kicker·워드마크·페이지·출처 — 매 장 동일 위치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85800" y="4933188"/>
            <a:ext cx="4998568" cy="0"/>
          </a:xfrm>
          <a:prstGeom prst="line">
            <a:avLst/>
          </a:prstGeom>
          <a:noFill/>
          <a:ln w="12700">
            <a:solidFill>
              <a:srgbClr val="D8D0C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85800" y="5061204"/>
            <a:ext cx="499856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3계층</a:t>
            </a:r>
            <a:endParaRPr lang="en-US" sz="3000" dirty="0"/>
          </a:p>
        </p:txBody>
      </p:sp>
      <p:sp>
        <p:nvSpPr>
          <p:cNvPr id="19" name="Text 16"/>
          <p:cNvSpPr/>
          <p:nvPr/>
        </p:nvSpPr>
        <p:spPr>
          <a:xfrm>
            <a:off x="685800" y="5609844"/>
            <a:ext cx="49985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 정보 구조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685800" y="5865876"/>
            <a:ext cx="499856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7771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주장 → 빅넘버 → 근거 상세. 하단 1/3을 비우지 않는다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095848" y="2075688"/>
            <a:ext cx="0" cy="4078224"/>
          </a:xfrm>
          <a:prstGeom prst="line">
            <a:avLst/>
          </a:prstGeom>
          <a:noFill/>
          <a:ln w="12700">
            <a:solidFill>
              <a:srgbClr val="D8D0C1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507328" y="2455164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E8F0ED"/>
          </a:solidFill>
          <a:ln w="9525">
            <a:solidFill>
              <a:srgbClr val="AEC5C0"/>
            </a:solidFill>
            <a:prstDash val="solid"/>
          </a:ln>
        </p:spPr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599499" y="2547336"/>
            <a:ext cx="199705" cy="199705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7092544" y="2400300"/>
            <a:ext cx="441335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F4B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교정 ①</a:t>
            </a:r>
            <a:endParaRPr lang="en-US" sz="900" dirty="0"/>
          </a:p>
        </p:txBody>
      </p:sp>
      <p:sp>
        <p:nvSpPr>
          <p:cNvPr id="25" name="Text 21"/>
          <p:cNvSpPr/>
          <p:nvPr/>
        </p:nvSpPr>
        <p:spPr>
          <a:xfrm>
            <a:off x="7092544" y="2601468"/>
            <a:ext cx="44133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기준 교체</a:t>
            </a:r>
            <a:endParaRPr lang="en-US" sz="1350" dirty="0"/>
          </a:p>
        </p:txBody>
      </p:sp>
      <p:sp>
        <p:nvSpPr>
          <p:cNvPr id="26" name="Text 22"/>
          <p:cNvSpPr/>
          <p:nvPr/>
        </p:nvSpPr>
        <p:spPr>
          <a:xfrm>
            <a:off x="7092544" y="2875788"/>
            <a:ext cx="4413352" cy="4846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46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HTML 렌더 근접 → brandlogy 편집 그래머 (사용자 확정)</a:t>
            </a:r>
            <a:endParaRPr lang="en-US" sz="950" dirty="0"/>
          </a:p>
        </p:txBody>
      </p:sp>
      <p:sp>
        <p:nvSpPr>
          <p:cNvPr id="27" name="Shape 23"/>
          <p:cNvSpPr/>
          <p:nvPr/>
        </p:nvSpPr>
        <p:spPr>
          <a:xfrm>
            <a:off x="6507328" y="3689604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E8F0ED"/>
          </a:solidFill>
          <a:ln w="9525">
            <a:solidFill>
              <a:srgbClr val="AEC5C0"/>
            </a:solidFill>
            <a:prstDash val="solid"/>
          </a:ln>
        </p:spPr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599499" y="3781776"/>
            <a:ext cx="199705" cy="199705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7092544" y="3634740"/>
            <a:ext cx="441335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F4B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교정 ②</a:t>
            </a:r>
            <a:endParaRPr lang="en-US" sz="900" dirty="0"/>
          </a:p>
        </p:txBody>
      </p:sp>
      <p:sp>
        <p:nvSpPr>
          <p:cNvPr id="30" name="Text 25"/>
          <p:cNvSpPr/>
          <p:nvPr/>
        </p:nvSpPr>
        <p:spPr>
          <a:xfrm>
            <a:off x="7092544" y="3835908"/>
            <a:ext cx="44133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1장 미세조정</a:t>
            </a:r>
            <a:endParaRPr lang="en-US" sz="1350" dirty="0"/>
          </a:p>
        </p:txBody>
      </p:sp>
      <p:sp>
        <p:nvSpPr>
          <p:cNvPr id="31" name="Text 26"/>
          <p:cNvSpPr/>
          <p:nvPr/>
        </p:nvSpPr>
        <p:spPr>
          <a:xfrm>
            <a:off x="7092544" y="4110228"/>
            <a:ext cx="4413352" cy="4846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46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PNG 자기검사 루프 — 대표 1장 수렴 후 전장 전개</a:t>
            </a:r>
            <a:endParaRPr lang="en-US" sz="950" dirty="0"/>
          </a:p>
        </p:txBody>
      </p:sp>
      <p:sp>
        <p:nvSpPr>
          <p:cNvPr id="32" name="Shape 27"/>
          <p:cNvSpPr/>
          <p:nvPr/>
        </p:nvSpPr>
        <p:spPr>
          <a:xfrm>
            <a:off x="6507328" y="4924044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E8F0ED"/>
          </a:solidFill>
          <a:ln w="9525">
            <a:solidFill>
              <a:srgbClr val="AEC5C0"/>
            </a:solidFill>
            <a:prstDash val="solid"/>
          </a:ln>
        </p:spPr>
      </p:sp>
      <p:pic>
        <p:nvPicPr>
          <p:cNvPr id="3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599499" y="5016216"/>
            <a:ext cx="199705" cy="199705"/>
          </a:xfrm>
          <a:prstGeom prst="rect">
            <a:avLst/>
          </a:prstGeom>
        </p:spPr>
      </p:pic>
      <p:sp>
        <p:nvSpPr>
          <p:cNvPr id="34" name="Text 28"/>
          <p:cNvSpPr/>
          <p:nvPr/>
        </p:nvSpPr>
        <p:spPr>
          <a:xfrm>
            <a:off x="7092544" y="4869180"/>
            <a:ext cx="441335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F4B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교정 ③</a:t>
            </a:r>
            <a:endParaRPr lang="en-US" sz="900" dirty="0"/>
          </a:p>
        </p:txBody>
      </p:sp>
      <p:sp>
        <p:nvSpPr>
          <p:cNvPr id="35" name="Text 29"/>
          <p:cNvSpPr/>
          <p:nvPr/>
        </p:nvSpPr>
        <p:spPr>
          <a:xfrm>
            <a:off x="7092544" y="5070348"/>
            <a:ext cx="44133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구성 분화</a:t>
            </a:r>
            <a:endParaRPr lang="en-US" sz="1350" dirty="0"/>
          </a:p>
        </p:txBody>
      </p:sp>
      <p:sp>
        <p:nvSpPr>
          <p:cNvPr id="36" name="Text 30"/>
          <p:cNvSpPr/>
          <p:nvPr/>
        </p:nvSpPr>
        <p:spPr>
          <a:xfrm>
            <a:off x="7092544" y="5344668"/>
            <a:ext cx="4413352" cy="4846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46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카드는 데이터 증거에만 — 나머지는 오픈 타이포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9494215" y="29260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Askewly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85800" y="64190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771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685800" y="2286000"/>
            <a:ext cx="1082009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액션.</a:t>
            </a:r>
            <a:endParaRPr lang="en-US" sz="3800" dirty="0"/>
          </a:p>
        </p:txBody>
      </p:sp>
      <p:sp>
        <p:nvSpPr>
          <p:cNvPr id="6" name="Shape 3"/>
          <p:cNvSpPr/>
          <p:nvPr/>
        </p:nvSpPr>
        <p:spPr>
          <a:xfrm>
            <a:off x="1935328" y="3483864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E8F0ED"/>
          </a:solidFill>
          <a:ln w="9525">
            <a:solidFill>
              <a:srgbClr val="AEC5C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027499" y="3576036"/>
            <a:ext cx="199705" cy="199705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2520544" y="3429000"/>
            <a:ext cx="1883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구성안 게이트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2520544" y="3703320"/>
            <a:ext cx="1883664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46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주제→구성안→생성 순서를 스킬 계약에</a:t>
            </a:r>
            <a:endParaRPr lang="en-US" sz="950" dirty="0"/>
          </a:p>
        </p:txBody>
      </p:sp>
      <p:sp>
        <p:nvSpPr>
          <p:cNvPr id="10" name="Shape 6"/>
          <p:cNvSpPr/>
          <p:nvPr/>
        </p:nvSpPr>
        <p:spPr>
          <a:xfrm>
            <a:off x="4861408" y="3483864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E8F0ED"/>
          </a:solidFill>
          <a:ln w="9525">
            <a:solidFill>
              <a:srgbClr val="AEC5C0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953579" y="3576036"/>
            <a:ext cx="199705" cy="199705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5446624" y="3429000"/>
            <a:ext cx="1883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워크트리 병합</a:t>
            </a:r>
            <a:endParaRPr lang="en-US" sz="1350" dirty="0"/>
          </a:p>
        </p:txBody>
      </p:sp>
      <p:sp>
        <p:nvSpPr>
          <p:cNvPr id="13" name="Text 8"/>
          <p:cNvSpPr/>
          <p:nvPr/>
        </p:nvSpPr>
        <p:spPr>
          <a:xfrm>
            <a:off x="5446624" y="3703320"/>
            <a:ext cx="1883664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46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goal 마감 후 main 통합</a:t>
            </a:r>
            <a:endParaRPr lang="en-US" sz="950" dirty="0"/>
          </a:p>
        </p:txBody>
      </p:sp>
      <p:sp>
        <p:nvSpPr>
          <p:cNvPr id="14" name="Shape 9"/>
          <p:cNvSpPr/>
          <p:nvPr/>
        </p:nvSpPr>
        <p:spPr>
          <a:xfrm>
            <a:off x="7787488" y="3483864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E8F0ED"/>
          </a:solidFill>
          <a:ln w="9525">
            <a:solidFill>
              <a:srgbClr val="AEC5C0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879659" y="3576036"/>
            <a:ext cx="199705" cy="199705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8372704" y="3429000"/>
            <a:ext cx="1883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리디자인 트랙</a:t>
            </a:r>
            <a:endParaRPr lang="en-US" sz="1350" dirty="0"/>
          </a:p>
        </p:txBody>
      </p:sp>
      <p:sp>
        <p:nvSpPr>
          <p:cNvPr id="17" name="Text 11"/>
          <p:cNvSpPr/>
          <p:nvPr/>
        </p:nvSpPr>
        <p:spPr>
          <a:xfrm>
            <a:off x="8372704" y="3703320"/>
            <a:ext cx="1883664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46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저품질 PPT/PDF → 내 스타일 재산출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파이프라인 하루 회고</dc:title>
  <dc:subject>PptxGenJS Presentation</dc:subject>
  <dc:creator>PptxGenJS</dc:creator>
  <cp:lastModifiedBy>PptxGenJS</cp:lastModifiedBy>
  <cp:revision>1</cp:revision>
  <dcterms:created xsi:type="dcterms:W3CDTF">2026-07-31T07:24:24Z</dcterms:created>
  <dcterms:modified xsi:type="dcterms:W3CDTF">2026-07-31T07:24:24Z</dcterms:modified>
</cp:coreProperties>
</file>